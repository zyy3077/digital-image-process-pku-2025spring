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58" r:id="rId5"/>
    <p:sldId id="262" r:id="rId6"/>
    <p:sldId id="270" r:id="rId7"/>
    <p:sldId id="271" r:id="rId8"/>
    <p:sldId id="272" r:id="rId9"/>
    <p:sldId id="273" r:id="rId10"/>
    <p:sldId id="259" r:id="rId11"/>
    <p:sldId id="274" r:id="rId12"/>
    <p:sldId id="275" r:id="rId13"/>
    <p:sldId id="276" r:id="rId14"/>
    <p:sldId id="277" r:id="rId15"/>
    <p:sldId id="268" r:id="rId16"/>
    <p:sldId id="278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4F50"/>
    <a:srgbClr val="990000"/>
    <a:srgbClr val="4D51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56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6C367-1680-4202-87F8-8833205A6A2C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34F843-17C2-4B47-99D8-478E55CB87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668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4F843-17C2-4B47-99D8-478E55CB876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313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0DF9E-56B2-3FAE-9083-39BDFA4C2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1038FC-7D2C-4382-EB79-96B552782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17891A-AE6C-16AF-FDEF-F448F9DEF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2A6B-5BC9-4A7F-AF2E-4A41749D9C73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491614-7B03-3DB9-A05D-F239EA838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F192DF-6AAC-2CA5-1C28-03D8D1B24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C235-6A55-405D-8E8F-00C84A5AC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66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54000-116A-7873-1A7E-507F8CC46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6B0FA5-F89E-80F8-5DC0-38CC0DA7F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C639CE-8E65-FC1E-3FFB-A88608575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2A6B-5BC9-4A7F-AF2E-4A41749D9C73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2BDFD1-C4CA-350A-BEF8-7E2741C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389522-CBAC-3CD8-129D-8B3CBAF3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C235-6A55-405D-8E8F-00C84A5AC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273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C07D5F-C93D-3181-FE34-6B6AD3C33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54B58D-CC2B-07EA-CC01-C18291F12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940D25-D1F1-423F-609C-798C118B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2A6B-5BC9-4A7F-AF2E-4A41749D9C73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DFB26E-0BC7-1BD8-EDFD-84573189E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D85347-D267-D9C6-82DD-38327991B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C235-6A55-405D-8E8F-00C84A5AC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96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10D37-E537-F771-7AD7-85F2C84F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F70591-E5C6-5D1F-CA46-E2BD97AE50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24BDA6-F0DC-5F73-FAF9-C428AF803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569746-2E4C-433E-CC6B-FF9F8AE2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2A6B-5BC9-4A7F-AF2E-4A41749D9C73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CACF10-AC9B-405B-BE4C-D8CE4F98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5508F1-1133-807C-2205-076DC773F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C235-6A55-405D-8E8F-00C84A5AC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99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9CAFC-B47F-B8C4-9438-B134BAFB7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8FF2CC-2C85-8A20-6BF0-E1FDA1D6D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B0418A-DA8C-EED8-A23A-B2A074173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F8FF84-92A9-2885-8796-129187507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152FB2D-A8A7-33D6-F069-B9B38D7A38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3E9597-D9A2-781A-0333-7CDC93991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2A6B-5BC9-4A7F-AF2E-4A41749D9C73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C07A96-8E5B-DB03-7389-EE40901FD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666FBAF-52F4-263A-F962-85E7CF84E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C235-6A55-405D-8E8F-00C84A5AC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912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B3AF94-6604-B268-D107-99CB24C43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D4F8E6-3164-15A2-60E0-DE7A474D7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2A6B-5BC9-4A7F-AF2E-4A41749D9C73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3FD2309-372C-34DC-5B00-400A00D89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DB04A9-96D6-A534-08B1-AA207DD4F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C235-6A55-405D-8E8F-00C84A5AC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910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800F7B-0685-FED4-0B25-435E49B51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2A6B-5BC9-4A7F-AF2E-4A41749D9C73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431E6C-8700-DEDE-F56E-9345057A5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210587-6CD3-D3D7-D8EB-153BF1BE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C235-6A55-405D-8E8F-00C84A5AC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76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592F5F-E91E-1AF7-51F4-1E63B2117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B0EAF3-4005-F344-A6DC-4F1B9AD0C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2D90A2-0E14-190D-CCDF-45DAA127D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B7E8E7-1422-9BA5-9F44-1D5731E6F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2A6B-5BC9-4A7F-AF2E-4A41749D9C73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40C0EC-F9CE-C4A5-33DE-8C2C2009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2C4606-5560-F147-AA55-9721F9B74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C235-6A55-405D-8E8F-00C84A5AC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427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7BC8B-F014-012A-90CB-5B008CC83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837E63-144E-228D-8F67-B5A35BC601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E9E97D-3B5E-328D-5B17-1814BE31D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8DB4EB-845A-9922-68D1-98951BF6F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2A6B-5BC9-4A7F-AF2E-4A41749D9C73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CB365B-151C-78E5-4079-FEA65A246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4EBC50-0A9B-4D3F-F8EB-3BBA559D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C235-6A55-405D-8E8F-00C84A5AC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45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96A78-B749-2190-29F6-253D56E73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207454-6E5D-B611-1278-7B1EE3B11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62FE32-B093-FAC0-4034-2E7D454D6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2A6B-5BC9-4A7F-AF2E-4A41749D9C73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85395A-4D44-E70B-BE64-97C3C73AC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8A2B87-23BC-7500-1C46-0D03FD5F0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C235-6A55-405D-8E8F-00C84A5AC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547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A9FF82B-F696-F3F3-B39B-DA71F7993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C2A8D6-AB11-07B4-8C03-73E355CB7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098C02-ABFA-7275-8302-6C30D9CDE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2A6B-5BC9-4A7F-AF2E-4A41749D9C73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A6A18C-EED3-1EE3-DCCA-D6D7A86D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F0961B-6ABA-82D3-9677-1954F55B7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C235-6A55-405D-8E8F-00C84A5AC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45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722737B-DF2B-D6F5-388A-A53A9BF3E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E3D7DB-75B1-DEC6-7E76-1F71A8434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3369C8-8E54-EF36-93BA-9804B1854A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F2A6B-5BC9-4A7F-AF2E-4A41749D9C73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DF2A59-5B11-783D-517F-3D53A7852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520F16-C58A-24D5-DEEF-4BD417795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0C235-6A55-405D-8E8F-00C84A5AC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425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0815F-00EE-A72E-6DE7-578E1BA5C3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Homework9 Report</a:t>
            </a:r>
            <a:b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DFT &amp; IDFT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5D1CB0-222F-0795-BD70-23DFB36ADB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赵媛媛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2300013077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955442-8B27-428F-9DDC-0BD4482C4F0B}"/>
              </a:ext>
            </a:extLst>
          </p:cNvPr>
          <p:cNvSpPr/>
          <p:nvPr/>
        </p:nvSpPr>
        <p:spPr>
          <a:xfrm>
            <a:off x="1524000" y="1122363"/>
            <a:ext cx="664029" cy="23876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451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FC891-A0E1-0AD6-A09F-C07C54F38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837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#(</a:t>
            </a:r>
            <a:r>
              <a:rPr lang="zh-CN" altLang="en-US" sz="4800" dirty="0">
                <a:latin typeface="楷体" panose="02010609060101010101" pitchFamily="49" charset="-122"/>
                <a:ea typeface="楷体" panose="02010609060101010101" pitchFamily="49" charset="-122"/>
              </a:rPr>
              <a:t>基础型，编程工具只限</a:t>
            </a:r>
            <a:r>
              <a:rPr lang="en-US" altLang="zh-CN" sz="4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Matlab</a:t>
            </a:r>
            <a:r>
              <a:rPr lang="en-US" altLang="zh-CN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zh-CN" altLang="en-US" sz="4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6BFDFE-9A02-FAA8-6A54-92A119B91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563" y="2228325"/>
            <a:ext cx="5733515" cy="36638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自行实现二维离散傅里叶变换及其逆变换（不允许直接调用</a:t>
            </a:r>
            <a:r>
              <a:rPr lang="en-US" altLang="zh-CN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fft2/ifft2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），无需实现快速傅里叶变换算法。展示变换后傅里叶频谱的幅值、辐角、实部、虚部的图像。 </a:t>
            </a:r>
          </a:p>
          <a:p>
            <a:pPr marL="0" indent="0"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对变换得到的傅里叶频谱做低通、高通滤波（如下图），将滤波后的频谱做逆变换，对比频域滤波后的图像与原图的区别。 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A31224-3615-CFA1-A6A9-1B9B424DE854}"/>
              </a:ext>
            </a:extLst>
          </p:cNvPr>
          <p:cNvSpPr/>
          <p:nvPr/>
        </p:nvSpPr>
        <p:spPr>
          <a:xfrm>
            <a:off x="838201" y="365125"/>
            <a:ext cx="415636" cy="1325563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A6101A-E595-CDC2-19E6-E5655DBBE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967" y="2340851"/>
            <a:ext cx="5482363" cy="29381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6071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6A186-6B71-6967-9F84-DD34B7D68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7E5A3-FC87-59A5-C101-0B674D0EE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837" y="36512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0004CE-E15C-12B1-C08D-A107175E6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0404"/>
            <a:ext cx="10515600" cy="4084669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DFT &amp; IDFT Algorithm Design</a:t>
            </a:r>
          </a:p>
          <a:p>
            <a:pPr marL="971550" lvl="1" indent="-514350"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DFT &amp; IDFT Process</a:t>
            </a:r>
          </a:p>
          <a:p>
            <a:pPr marL="971550" lvl="1" indent="-514350"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Implementation and</a:t>
            </a:r>
            <a:r>
              <a:rPr lang="zh-CN" altLang="en-US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Improvement</a:t>
            </a:r>
          </a:p>
          <a:p>
            <a:pPr marL="514350" indent="-514350"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Low &amp; High Frequency Filter	</a:t>
            </a:r>
          </a:p>
          <a:p>
            <a:pPr marL="514350" indent="-514350"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Result Analysis</a:t>
            </a:r>
          </a:p>
          <a:p>
            <a:pPr marL="514350" indent="-514350"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Summary and Thoughts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FFBF31-2CE2-C185-65A7-A7D28A3D4C35}"/>
              </a:ext>
            </a:extLst>
          </p:cNvPr>
          <p:cNvSpPr/>
          <p:nvPr/>
        </p:nvSpPr>
        <p:spPr>
          <a:xfrm>
            <a:off x="838201" y="365125"/>
            <a:ext cx="415636" cy="1325563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991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24793-ABF1-C742-D1F0-6688E8172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0967B7-055E-A3AB-ED90-4A4789690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837" y="365124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1.1 </a:t>
            </a: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DFT &amp; IDFT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5AAB4C-BF9B-0AC1-D436-2A9DC1247B24}"/>
              </a:ext>
            </a:extLst>
          </p:cNvPr>
          <p:cNvSpPr/>
          <p:nvPr/>
        </p:nvSpPr>
        <p:spPr>
          <a:xfrm>
            <a:off x="838201" y="365125"/>
            <a:ext cx="415636" cy="1325563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C7B478F-5132-A872-0AD0-19E47A41E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2114614"/>
            <a:ext cx="5004200" cy="34225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17ABCB8-9235-FAC9-F173-4BB043FDFEFF}"/>
              </a:ext>
            </a:extLst>
          </p:cNvPr>
          <p:cNvSpPr txBox="1"/>
          <p:nvPr/>
        </p:nvSpPr>
        <p:spPr>
          <a:xfrm>
            <a:off x="1706405" y="5649683"/>
            <a:ext cx="5166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Fourier Transform: wave basis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A07DBE-2CD0-24F7-0231-7FB4F0A1B14C}"/>
              </a:ext>
            </a:extLst>
          </p:cNvPr>
          <p:cNvSpPr txBox="1"/>
          <p:nvPr/>
        </p:nvSpPr>
        <p:spPr>
          <a:xfrm>
            <a:off x="6305745" y="1690687"/>
            <a:ext cx="53729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离散傅里叶变换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(DFT)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就像是一个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数学显微镜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，它能把图像分解成不同频率的正余弦波组合。想象你有一杯混合果汁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DFT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就是帮你分析里面含有哪些水果成分的方法。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将图像这一向量空间用高频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低频的基向量表示，从对这些基向量操作从而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fontAlgn="base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压缩​​：只存储重要频率成分</a:t>
            </a:r>
          </a:p>
          <a:p>
            <a:pPr fontAlgn="base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​​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去噪​​：去除不需要的频率</a:t>
            </a:r>
          </a:p>
          <a:p>
            <a:pPr fontAlgn="base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​​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分析​​：了解信号组成特性</a:t>
            </a:r>
          </a:p>
          <a:p>
            <a:pPr fontAlgn="base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​​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增强​​：选择性加强特定成分</a:t>
            </a:r>
          </a:p>
        </p:txBody>
      </p:sp>
    </p:spTree>
    <p:extLst>
      <p:ext uri="{BB962C8B-B14F-4D97-AF65-F5344CB8AC3E}">
        <p14:creationId xmlns:p14="http://schemas.microsoft.com/office/powerpoint/2010/main" val="277978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2C442-77BD-1286-3602-B634CF0A4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1FC35-41EF-9E44-BAD1-5AAC8F00A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837" y="365124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1.1 DFT &amp; IDFT Process</a:t>
            </a:r>
            <a:endParaRPr lang="zh-CN" altLang="en-US" dirty="0"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242833-17CF-C9BF-A87D-84B27CCCF11E}"/>
              </a:ext>
            </a:extLst>
          </p:cNvPr>
          <p:cNvSpPr/>
          <p:nvPr/>
        </p:nvSpPr>
        <p:spPr>
          <a:xfrm>
            <a:off x="838201" y="365125"/>
            <a:ext cx="415636" cy="1325563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E62DB4-C7D8-2D39-AC88-0C54444F7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0404"/>
            <a:ext cx="10515600" cy="4084669"/>
          </a:xfrm>
        </p:spPr>
        <p:txBody>
          <a:bodyPr>
            <a:normAutofit/>
          </a:bodyPr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构建波基函数</a:t>
            </a:r>
            <a:r>
              <a:rPr lang="en-US" altLang="zh-CN" b="1" dirty="0"/>
              <a:t> 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Wave Basis Construction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计算变换系数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Coefficient Calculation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频率中心化处理</a:t>
            </a:r>
            <a:r>
              <a:rPr lang="en-US" altLang="zh-CN" b="1" dirty="0"/>
              <a:t> 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Frequency Shifting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频谱可视化分析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Spectrum Visualization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图像重建 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Reconstruction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zh-CN" altLang="en-US" b="1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zh-CN" altLang="en-US" dirty="0"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 marL="514350" indent="-514350">
              <a:buAutoNum type="arabicPeriod"/>
            </a:pPr>
            <a:endParaRPr lang="en-US" altLang="zh-CN" dirty="0"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282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CF933-4350-F5A4-360A-CE7812913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4A1F5D-C745-AFC3-4EFB-5ECC16E7F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837" y="365124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1.1 DFT &amp; IDFT Process</a:t>
            </a:r>
            <a:endParaRPr lang="zh-CN" altLang="en-US" dirty="0"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8CCED5-6F01-8DEE-572F-2BF0721F7187}"/>
              </a:ext>
            </a:extLst>
          </p:cNvPr>
          <p:cNvSpPr/>
          <p:nvPr/>
        </p:nvSpPr>
        <p:spPr>
          <a:xfrm>
            <a:off x="838201" y="365125"/>
            <a:ext cx="415636" cy="1325563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D2DCAF-13B6-23DC-5F58-EE945C167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0404"/>
            <a:ext cx="10515600" cy="4871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离散傅里叶变换的核心是构建一组正交的波基函数：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这些函数具有重要的正交性特性：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fontAlgn="base">
              <a:buNone/>
            </a:pP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每个波基函数对应特定的频率组合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(u/M, v/N)</a:t>
            </a:r>
          </a:p>
          <a:p>
            <a:pPr marL="0" indent="0" fontAlgn="base">
              <a:buNone/>
            </a:pP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正交性保证了不同频率成分可以独立分析</a:t>
            </a:r>
          </a:p>
          <a:p>
            <a:pPr marL="0" indent="0" fontAlgn="base">
              <a:buNone/>
            </a:pP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后续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IDFT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处理需要归一化因子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1/MN</a:t>
            </a:r>
          </a:p>
          <a:p>
            <a:pPr marL="0" indent="0">
              <a:buNone/>
            </a:pP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97A1C6B-B277-2F3C-A3CB-2626E3B66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655" y="2528862"/>
            <a:ext cx="4048690" cy="81926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AEF57F8-2528-CBF2-EA4C-70392A3B8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663" y="4104514"/>
            <a:ext cx="6569289" cy="99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799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40AAD-6494-413E-8D45-4BD9EBCB4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64A2A-770B-7067-C4FA-79FAAA046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837" y="365124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1.1 DFT &amp; IDFT Process</a:t>
            </a:r>
            <a:endParaRPr lang="zh-CN" altLang="en-US" dirty="0"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7D356C-1397-9158-29A1-B39B7E59DEF6}"/>
              </a:ext>
            </a:extLst>
          </p:cNvPr>
          <p:cNvSpPr/>
          <p:nvPr/>
        </p:nvSpPr>
        <p:spPr>
          <a:xfrm>
            <a:off x="838201" y="365125"/>
            <a:ext cx="415636" cy="1325563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49CC92-4FAF-0829-28F4-F4F2F6CD3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0404"/>
            <a:ext cx="10515600" cy="4871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通过以下公式计算每个频率成分的系数：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fontAlgn="base">
              <a:buNone/>
            </a:pP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遍历图像所有像素点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(x, y)</a:t>
            </a:r>
          </a:p>
          <a:p>
            <a:pPr marL="0" indent="0" fontAlgn="base">
              <a:buNone/>
            </a:pP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计算每个像素与特定频率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(u/M, v/N)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的相似度</a:t>
            </a:r>
          </a:p>
          <a:p>
            <a:pPr marL="0" indent="0" fontAlgn="base">
              <a:buNone/>
            </a:pP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累加得到该频率成分的强度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F(u, v)</a:t>
            </a: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40FF1C3-3AD1-E60E-7A91-4F4EE3274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112" y="2518789"/>
            <a:ext cx="4783776" cy="64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779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DDBE3-42C3-5E92-549C-84529CAA0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1CF5A6-997A-AE0D-1ED3-B342170A7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837" y="365124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1.1 DFT &amp; IDFT Process</a:t>
            </a:r>
            <a:endParaRPr lang="zh-CN" altLang="en-US" dirty="0"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79B004-8E6D-6C8C-9BDD-D953A11BF3E4}"/>
              </a:ext>
            </a:extLst>
          </p:cNvPr>
          <p:cNvSpPr/>
          <p:nvPr/>
        </p:nvSpPr>
        <p:spPr>
          <a:xfrm>
            <a:off x="838201" y="365125"/>
            <a:ext cx="415636" cy="1325563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89077C-0D0D-4901-EA8D-814C53215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0404"/>
            <a:ext cx="10515600" cy="4871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频率中心化处理以及频谱可视化分析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fontAlgn="base">
              <a:buNone/>
            </a:pP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使频谱可视化更直观</a:t>
            </a:r>
          </a:p>
          <a:p>
            <a:pPr marL="0" indent="0" fontAlgn="base">
              <a:buNone/>
            </a:pP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低频成分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图像整体信息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位于中心</a:t>
            </a:r>
          </a:p>
          <a:p>
            <a:pPr marL="0" indent="0" fontAlgn="base">
              <a:buNone/>
            </a:pP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高频成分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细节和边缘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位于外围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fontAlgn="base">
              <a:buNone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fontAlgn="base">
              <a:buNone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fontAlgn="base">
              <a:buNone/>
            </a:pP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F6D3B0C-6ECE-3A37-A3E6-70BF719DA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013" y="2389227"/>
            <a:ext cx="5500424" cy="439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26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081AF-8A42-DDD7-540C-7110B80FE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C0775D-600B-FDA3-99B3-3A5B9A3EF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837" y="365124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1.1 DFT &amp; IDFT Process</a:t>
            </a:r>
            <a:endParaRPr lang="zh-CN" altLang="en-US" dirty="0"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E17E1C-F91D-9FED-20E7-D121A0499FA8}"/>
              </a:ext>
            </a:extLst>
          </p:cNvPr>
          <p:cNvSpPr/>
          <p:nvPr/>
        </p:nvSpPr>
        <p:spPr>
          <a:xfrm>
            <a:off x="838201" y="365125"/>
            <a:ext cx="415636" cy="1325563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69A597-F839-7626-0947-FE87D2EA6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0404"/>
            <a:ext cx="10515600" cy="4871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通过逆变换重建原始图像：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fontAlgn="base">
              <a:buNone/>
            </a:pPr>
            <a:r>
              <a:rPr lang="en-US" altLang="zh-CN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1/MN</a:t>
            </a:r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是归一化系数</a:t>
            </a:r>
            <a: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来自波基正交性</a:t>
            </a:r>
            <a: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  <a:p>
            <a:pPr marL="0" indent="0" fontAlgn="base">
              <a:buNone/>
            </a:pPr>
            <a:r>
              <a:rPr lang="en-US" altLang="zh-CN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φ*</a:t>
            </a:r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是波基函数的复共轭</a:t>
            </a:r>
          </a:p>
          <a:p>
            <a:pPr marL="0" indent="0" fontAlgn="base">
              <a:buNone/>
            </a:pPr>
            <a: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所有频率成分的加权求和</a:t>
            </a:r>
          </a:p>
          <a:p>
            <a:pPr marL="0" indent="0" fontAlgn="base">
              <a:buNone/>
            </a:pPr>
            <a: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完美重建原始图像</a:t>
            </a:r>
            <a: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理论上</a:t>
            </a:r>
            <a: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  <a:p>
            <a:pPr marL="0" indent="0" fontAlgn="base">
              <a:buNone/>
            </a:pPr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803AA8-3894-77E9-8948-D7D04B05A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868" y="2535642"/>
            <a:ext cx="5039041" cy="65640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54394F8-D365-A4AE-AB3A-E76C57A35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088" y="3887477"/>
            <a:ext cx="7132500" cy="273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877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D37F-192A-3971-2DE5-CF49A6EFB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D9D76-B5E9-3C61-2573-241DD5389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837" y="365124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1.2 </a:t>
            </a: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Implementation and</a:t>
            </a:r>
            <a:r>
              <a:rPr lang="zh-CN" altLang="en-US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Improvement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878D3F-9757-306D-4AD4-0FD8320ED166}"/>
              </a:ext>
            </a:extLst>
          </p:cNvPr>
          <p:cNvSpPr/>
          <p:nvPr/>
        </p:nvSpPr>
        <p:spPr>
          <a:xfrm>
            <a:off x="838201" y="365125"/>
            <a:ext cx="415636" cy="1325563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6F608D-928F-871D-F47C-0F62874D277C}"/>
              </a:ext>
            </a:extLst>
          </p:cNvPr>
          <p:cNvSpPr txBox="1"/>
          <p:nvPr/>
        </p:nvSpPr>
        <p:spPr>
          <a:xfrm>
            <a:off x="838201" y="1846967"/>
            <a:ext cx="104192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1: For-Loop Version</a:t>
            </a: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为了每个频率成分的系数，要遍历每个像素点，并且计算每个像素与特定频率的相似度，最初采用原始的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For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循环，可以保证正确性但计算非常耗时。</a:t>
            </a: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52EAFFC-9EDA-BDEB-FD0C-C37AEFA2C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46" y="3082428"/>
            <a:ext cx="5031531" cy="341044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58DC820-9358-1A39-D0DB-0AEAB9D9C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136" y="3047296"/>
            <a:ext cx="5812764" cy="322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768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5A0D1-27AC-5454-5B4F-80E74C5D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075D36-6121-D8B3-6CD6-B7D391F94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837" y="365124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1.2 </a:t>
            </a: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Implementation and</a:t>
            </a:r>
            <a:r>
              <a:rPr lang="zh-CN" altLang="en-US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Improvement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2126D7-5F1D-F1A0-BAE4-96418563DB81}"/>
              </a:ext>
            </a:extLst>
          </p:cNvPr>
          <p:cNvSpPr/>
          <p:nvPr/>
        </p:nvSpPr>
        <p:spPr>
          <a:xfrm>
            <a:off x="838201" y="365125"/>
            <a:ext cx="415636" cy="1325563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CD6A21-00CC-2514-9CFE-1E70C0F265EB}"/>
              </a:ext>
            </a:extLst>
          </p:cNvPr>
          <p:cNvSpPr txBox="1"/>
          <p:nvPr/>
        </p:nvSpPr>
        <p:spPr>
          <a:xfrm>
            <a:off x="838201" y="1846967"/>
            <a:ext cx="104192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2: Matrix Multiplication Speedup</a:t>
            </a: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为了加速计算，提前计算了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and horizontal DFT and IDFT kernel</a:t>
            </a: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94F8AE8-9854-0EE6-675B-0F1D6E983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86" y="2918814"/>
            <a:ext cx="5280627" cy="321537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DDD93AE-735D-A7D9-D0FF-53BDEBB9B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177" y="2918813"/>
            <a:ext cx="5236636" cy="321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329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B33B9-ED5B-0FE5-AAA4-E4FF206EF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70B8CB-B93E-E95C-B656-FE4027B67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837" y="365124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Low &amp; High Frequency Filter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E61816-5C83-EA8C-CE4F-F5707E875868}"/>
              </a:ext>
            </a:extLst>
          </p:cNvPr>
          <p:cNvSpPr/>
          <p:nvPr/>
        </p:nvSpPr>
        <p:spPr>
          <a:xfrm>
            <a:off x="838201" y="365125"/>
            <a:ext cx="415636" cy="1325563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AD5ACE-4B67-F480-D0D0-2AF2E7656C0E}"/>
              </a:ext>
            </a:extLst>
          </p:cNvPr>
          <p:cNvSpPr txBox="1"/>
          <p:nvPr/>
        </p:nvSpPr>
        <p:spPr>
          <a:xfrm>
            <a:off x="1833574" y="5292400"/>
            <a:ext cx="5166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Low/High Frequency Filters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5E44AE-3153-CA79-757B-0FE3390984D6}"/>
              </a:ext>
            </a:extLst>
          </p:cNvPr>
          <p:cNvSpPr txBox="1"/>
          <p:nvPr/>
        </p:nvSpPr>
        <p:spPr>
          <a:xfrm>
            <a:off x="6311801" y="1926856"/>
            <a:ext cx="53729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将图像这一向量空间用高频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低频的基向量表示，从对这些基向量操作从而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fontAlgn="base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压缩​​：只存储重要频率成分</a:t>
            </a:r>
          </a:p>
          <a:p>
            <a:pPr fontAlgn="base"/>
            <a:r>
              <a:rPr lang="zh-CN" altLang="en-US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​​</a:t>
            </a:r>
            <a:r>
              <a:rPr lang="en-US" altLang="zh-CN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去噪​​：去除不需要的频率</a:t>
            </a:r>
          </a:p>
          <a:p>
            <a:pPr fontAlgn="base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​​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分析​​：了解信号组成特性</a:t>
            </a:r>
          </a:p>
          <a:p>
            <a:pPr fontAlgn="base"/>
            <a:r>
              <a:rPr lang="zh-CN" altLang="en-US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​​</a:t>
            </a:r>
            <a:r>
              <a:rPr lang="en-US" altLang="zh-CN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增强​​：选择性加强特定成分</a:t>
            </a:r>
            <a:endParaRPr lang="en-US" altLang="zh-CN" dirty="0">
              <a:highlight>
                <a:srgbClr val="FFFF00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fontAlgn="base"/>
            <a:endParaRPr lang="en-US" altLang="zh-CN" dirty="0">
              <a:highlight>
                <a:srgbClr val="FFFF00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fontAlgn="base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通过高通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低通滤波，可以选择性地过滤高频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低频成分。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fontAlgn="base"/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fontAlgn="base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低频成分​​：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代表图像的平滑区域和整体亮度分布</a:t>
            </a:r>
          </a:p>
          <a:p>
            <a:pPr fontAlgn="base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​​高频成分​​：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包含图像的边缘、纹理和细节信息</a:t>
            </a:r>
          </a:p>
          <a:p>
            <a:pPr fontAlgn="base"/>
            <a:endParaRPr lang="zh-CN" altLang="en-US" dirty="0">
              <a:highlight>
                <a:srgbClr val="FFFF00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F8E1E21-7F09-E068-186B-FB7313350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37" y="2168829"/>
            <a:ext cx="5482363" cy="29381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6688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C6125-95BD-B4A7-2330-2A911850A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5AF7FC-E5CA-568B-4316-72A26C368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837" y="365124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Low &amp; High Frequency Filter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23562B-93B3-B612-30BC-1CB8E8B4181E}"/>
              </a:ext>
            </a:extLst>
          </p:cNvPr>
          <p:cNvSpPr/>
          <p:nvPr/>
        </p:nvSpPr>
        <p:spPr>
          <a:xfrm>
            <a:off x="838201" y="365125"/>
            <a:ext cx="415636" cy="1325563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C331F7E-FC8C-2469-CF6D-1A2F6B309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22" y="1887567"/>
            <a:ext cx="5093366" cy="4453915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CC5AE4B-4959-04FB-3735-D4A353A25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9728" y="1542396"/>
            <a:ext cx="5962272" cy="4084669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Build the Filter</a:t>
            </a:r>
          </a:p>
          <a:p>
            <a:pPr marL="514350" indent="-514350">
              <a:buAutoNum type="arabicPeriod"/>
            </a:pPr>
            <a:endParaRPr lang="en-US" altLang="zh-CN" dirty="0"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 marL="514350" indent="-514350">
              <a:buAutoNum type="arabicPeriod"/>
            </a:pPr>
            <a:endParaRPr lang="en-US" altLang="zh-CN" dirty="0"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 marL="514350" indent="-514350"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Calculate the Filtered Coefficient</a:t>
            </a:r>
          </a:p>
          <a:p>
            <a:pPr marL="514350" indent="-514350">
              <a:buAutoNum type="arabicPeriod"/>
            </a:pPr>
            <a:endParaRPr lang="en-US" altLang="zh-CN" dirty="0"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 marL="514350" indent="-514350">
              <a:buAutoNum type="arabicPeriod"/>
            </a:pPr>
            <a:endParaRPr lang="en-US" altLang="zh-CN" dirty="0"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 marL="514350" indent="-514350">
              <a:buAutoNum type="arabicPeriod"/>
            </a:pPr>
            <a:endParaRPr lang="en-US" altLang="zh-CN" dirty="0"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 marL="514350" indent="-514350"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Reconstruct the Filtered Image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CA690A7-8CA1-BCB1-2311-7DFD0E904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072" y="2141010"/>
            <a:ext cx="3105583" cy="67636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1036115-AE74-058B-B866-562199892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491" y="3736121"/>
            <a:ext cx="3591426" cy="112410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9E69A28-4BCF-C4D7-D34B-A063439E4A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754" y="5734220"/>
            <a:ext cx="4782217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580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57D6-A410-96BB-CA2A-3668490D1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4B21E8-F323-91CF-805F-EF98AF9E8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837" y="365124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Result Analysis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4665BA-E418-0C83-22E0-725AF22C791E}"/>
              </a:ext>
            </a:extLst>
          </p:cNvPr>
          <p:cNvSpPr/>
          <p:nvPr/>
        </p:nvSpPr>
        <p:spPr>
          <a:xfrm>
            <a:off x="838201" y="365125"/>
            <a:ext cx="415636" cy="1325563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0555867-C9DB-1AC7-0017-4D866425F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42857"/>
            <a:ext cx="5683713" cy="10353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6B9447A-8406-716C-BB17-B983A5EDC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058" y="2296680"/>
            <a:ext cx="3255996" cy="57836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875B448-B519-8FFA-2861-1EB39E4A6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406" y="0"/>
            <a:ext cx="4237612" cy="68580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F6E982CE-8C40-613F-3116-C34DF2DFBE3C}"/>
              </a:ext>
            </a:extLst>
          </p:cNvPr>
          <p:cNvSpPr txBox="1"/>
          <p:nvPr/>
        </p:nvSpPr>
        <p:spPr>
          <a:xfrm>
            <a:off x="700847" y="4329774"/>
            <a:ext cx="65295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结果显示重建后的图像以及高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低通滤波处理后的图像：</a:t>
            </a:r>
            <a:b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重建结果令人满意，因为几乎看不出明显差异，这表明我们的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DFT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IDFT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实现是正确的。</a:t>
            </a:r>
            <a:b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ii)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高通滤波器成功分离了高频和低频成分，在高通图像中保留了花朵的轮廓特征，而低通图像则变得模糊并减少了噪声。</a:t>
            </a:r>
          </a:p>
        </p:txBody>
      </p:sp>
    </p:spTree>
    <p:extLst>
      <p:ext uri="{BB962C8B-B14F-4D97-AF65-F5344CB8AC3E}">
        <p14:creationId xmlns:p14="http://schemas.microsoft.com/office/powerpoint/2010/main" val="4152406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383B8-388E-F554-C67B-5FDFE08C6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D579C1-CEE9-2FE9-9C37-CB6928FEF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837" y="36512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and Thoughts</a:t>
            </a:r>
            <a:endParaRPr lang="zh-CN" altLang="en-US" dirty="0"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B98226-3800-B15F-0F0C-166F1BE07C5F}"/>
              </a:ext>
            </a:extLst>
          </p:cNvPr>
          <p:cNvSpPr/>
          <p:nvPr/>
        </p:nvSpPr>
        <p:spPr>
          <a:xfrm>
            <a:off x="838201" y="365125"/>
            <a:ext cx="415636" cy="1325563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7C601043-8F3F-F183-6D39-8E4BC2FA9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0404"/>
            <a:ext cx="10515600" cy="4084669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DFT &amp; IDFT Algorithm Design</a:t>
            </a:r>
          </a:p>
          <a:p>
            <a:pPr marL="457200" lvl="1" indent="0">
              <a:buNone/>
            </a:pP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1. DFT &amp; IDFT Process </a:t>
            </a:r>
          </a:p>
          <a:p>
            <a:pPr marL="457200" lvl="1" indent="0">
              <a:buNone/>
            </a:pPr>
            <a:r>
              <a:rPr lang="zh-CN" altLang="en-US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理解并实现了离散傅里叶变换以及逆变换的整个过程，更清晰地认识到这个方法分离信息的巧妙之处和实现细节。</a:t>
            </a:r>
            <a:endParaRPr lang="en-US" altLang="zh-CN" dirty="0"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2. Implementation and</a:t>
            </a:r>
            <a:r>
              <a:rPr lang="zh-CN" altLang="en-US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Improvement</a:t>
            </a:r>
          </a:p>
          <a:p>
            <a:pPr marL="457200" lvl="1" indent="0">
              <a:buNone/>
            </a:pPr>
            <a:r>
              <a:rPr lang="zh-CN" altLang="en-US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从最初</a:t>
            </a: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native</a:t>
            </a:r>
            <a:r>
              <a:rPr lang="zh-CN" altLang="en-US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的</a:t>
            </a: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for-loop</a:t>
            </a:r>
            <a:r>
              <a:rPr lang="zh-CN" altLang="en-US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实现到矩阵优化，取得了很明显的效率提升。</a:t>
            </a:r>
            <a:endParaRPr lang="en-US" altLang="zh-CN" dirty="0"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 marL="514350" indent="-514350"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Low &amp; High Frequency Filter	</a:t>
            </a:r>
          </a:p>
          <a:p>
            <a:pPr marL="457200" lvl="1" indent="0">
              <a:buNone/>
            </a:pPr>
            <a:r>
              <a:rPr lang="zh-CN" altLang="en-US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高通</a:t>
            </a: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/</a:t>
            </a:r>
            <a:r>
              <a:rPr lang="zh-CN" altLang="en-US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低通滤波成功地分离了不同频率成分，实现了突出边缘</a:t>
            </a: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/</a:t>
            </a:r>
            <a:r>
              <a:rPr lang="zh-CN" altLang="en-US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去噪柔化的效果，直观体会到傅里叶变换的用途和显著效果。</a:t>
            </a:r>
            <a:endParaRPr lang="en-US" altLang="zh-CN" dirty="0"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 marL="514350" indent="-514350"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Result Analysis</a:t>
            </a:r>
          </a:p>
          <a:p>
            <a:pPr marL="457200" lvl="1" indent="0">
              <a:buNone/>
            </a:pPr>
            <a:r>
              <a:rPr lang="zh-CN" altLang="en-US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算法依旧有可以提升之处，比如在运行效率和可扩展性方面，以及高通</a:t>
            </a:r>
            <a:r>
              <a:rPr lang="en-US" altLang="zh-CN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/</a:t>
            </a:r>
            <a:r>
              <a:rPr lang="zh-CN" altLang="en-US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低通滤波参数的自适应性。整个实现过程让我收获很多。</a:t>
            </a:r>
            <a:endParaRPr lang="en-US" altLang="zh-CN" dirty="0"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532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E58FF-5EEA-6B7B-C756-EC1FBB459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EE6A9-3202-EBA7-35A9-B1D1D1871F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Thanks for listening</a:t>
            </a:r>
            <a:b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DFT &amp; IDFT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B48638-0BE3-7CE4-06E2-3F037466E8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赵媛媛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2300013077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3CB902-392C-4E0B-6158-B79B13BC3969}"/>
              </a:ext>
            </a:extLst>
          </p:cNvPr>
          <p:cNvSpPr/>
          <p:nvPr/>
        </p:nvSpPr>
        <p:spPr>
          <a:xfrm>
            <a:off x="1524000" y="1122363"/>
            <a:ext cx="664029" cy="23876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382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</TotalTime>
  <Words>933</Words>
  <Application>Microsoft Office PowerPoint</Application>
  <PresentationFormat>宽屏</PresentationFormat>
  <Paragraphs>109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等线</vt:lpstr>
      <vt:lpstr>等线 Light</vt:lpstr>
      <vt:lpstr>楷体</vt:lpstr>
      <vt:lpstr>Arial</vt:lpstr>
      <vt:lpstr>Calibri</vt:lpstr>
      <vt:lpstr>Office 主题​​</vt:lpstr>
      <vt:lpstr>Homework9 Report DFT &amp; IDFT</vt:lpstr>
      <vt:lpstr>#(基础型，编程工具只限Matlab)</vt:lpstr>
      <vt:lpstr>Contents</vt:lpstr>
      <vt:lpstr>1.1 DFT &amp; IDFT</vt:lpstr>
      <vt:lpstr>1.1 DFT &amp; IDFT Process</vt:lpstr>
      <vt:lpstr>1.1 DFT &amp; IDFT Process</vt:lpstr>
      <vt:lpstr>1.1 DFT &amp; IDFT Process</vt:lpstr>
      <vt:lpstr>1.1 DFT &amp; IDFT Process</vt:lpstr>
      <vt:lpstr>1.1 DFT &amp; IDFT Process</vt:lpstr>
      <vt:lpstr>1.2 Implementation and Improvement</vt:lpstr>
      <vt:lpstr>1.2 Implementation and Improvement</vt:lpstr>
      <vt:lpstr>2. Low &amp; High Frequency Filter</vt:lpstr>
      <vt:lpstr>2. Low &amp; High Frequency Filter</vt:lpstr>
      <vt:lpstr>3. Result Analysis</vt:lpstr>
      <vt:lpstr>Summary and Thoughts</vt:lpstr>
      <vt:lpstr>Thanks for listening DFT &amp; IDFT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圆圆 赵</dc:creator>
  <cp:lastModifiedBy>圆圆 赵</cp:lastModifiedBy>
  <cp:revision>12</cp:revision>
  <dcterms:created xsi:type="dcterms:W3CDTF">2025-03-17T10:33:00Z</dcterms:created>
  <dcterms:modified xsi:type="dcterms:W3CDTF">2025-06-06T08:07:56Z</dcterms:modified>
</cp:coreProperties>
</file>